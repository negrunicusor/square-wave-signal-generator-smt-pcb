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9" r:id="rId7"/>
    <p:sldId id="262" r:id="rId8"/>
    <p:sldId id="270" r:id="rId9"/>
    <p:sldId id="263" r:id="rId10"/>
    <p:sldId id="268" r:id="rId11"/>
    <p:sldId id="264" r:id="rId12"/>
    <p:sldId id="265" r:id="rId13"/>
    <p:sldId id="267" r:id="rId14"/>
    <p:sldId id="266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E2FC"/>
    <a:srgbClr val="DEE1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BC0E9D-5862-4608-AB0F-90F0BC4DF600}" v="4" dt="2026-01-23T14:58:17.1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4718" autoAdjust="0"/>
  </p:normalViewPr>
  <p:slideViewPr>
    <p:cSldViewPr>
      <p:cViewPr varScale="1">
        <p:scale>
          <a:sx n="74" d="100"/>
          <a:sy n="74" d="100"/>
        </p:scale>
        <p:origin x="161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usor Negru" userId="ac1ce157e803e38f" providerId="LiveId" clId="{373C41C6-1C7F-4DC9-ACDD-BCFEDFD0A1CB}"/>
    <pc:docChg chg="custSel modSld">
      <pc:chgData name="Nicusor Negru" userId="ac1ce157e803e38f" providerId="LiveId" clId="{373C41C6-1C7F-4DC9-ACDD-BCFEDFD0A1CB}" dt="2026-01-23T15:03:05.038" v="209" actId="122"/>
      <pc:docMkLst>
        <pc:docMk/>
      </pc:docMkLst>
      <pc:sldChg chg="modSp mod">
        <pc:chgData name="Nicusor Negru" userId="ac1ce157e803e38f" providerId="LiveId" clId="{373C41C6-1C7F-4DC9-ACDD-BCFEDFD0A1CB}" dt="2026-01-23T15:03:05.038" v="209" actId="122"/>
        <pc:sldMkLst>
          <pc:docMk/>
          <pc:sldMk cId="0" sldId="264"/>
        </pc:sldMkLst>
        <pc:graphicFrameChg chg="mod modGraphic">
          <ac:chgData name="Nicusor Negru" userId="ac1ce157e803e38f" providerId="LiveId" clId="{373C41C6-1C7F-4DC9-ACDD-BCFEDFD0A1CB}" dt="2026-01-23T15:03:05.038" v="209" actId="122"/>
          <ac:graphicFrameMkLst>
            <pc:docMk/>
            <pc:sldMk cId="0" sldId="264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015BCA8-4F01-4D86-9485-5DC1E35EBFDB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0D67AA3-719D-41D2-92E8-0058ADCE64BB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648889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26" y="6188075"/>
            <a:ext cx="15462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69DE8-5E40-4F59-A536-4E3535E4BD0D}" type="datetimeFigureOut">
              <a:rPr lang="en-US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81764-BCEA-4297-89EC-E9B9FA6D5FFE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1CAC81-6169-4629-9F80-B677A4FE70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21767" y="6120493"/>
            <a:ext cx="661307" cy="661307"/>
          </a:xfrm>
          <a:prstGeom prst="rect">
            <a:avLst/>
          </a:prstGeom>
        </p:spPr>
      </p:pic>
      <p:pic>
        <p:nvPicPr>
          <p:cNvPr id="4" name="Picture 3" descr="A circular logo with a dome and a building in the middle&#10;&#10;Description automatically generated">
            <a:extLst>
              <a:ext uri="{FF2B5EF4-FFF2-40B4-BE49-F238E27FC236}">
                <a16:creationId xmlns:a16="http://schemas.microsoft.com/office/drawing/2014/main" id="{806F23B7-D4CC-0ECB-B4C7-6D89675BB2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2" y="266532"/>
            <a:ext cx="673735" cy="677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black and grey logo&#10;&#10;Description automatically generated">
            <a:extLst>
              <a:ext uri="{FF2B5EF4-FFF2-40B4-BE49-F238E27FC236}">
                <a16:creationId xmlns:a16="http://schemas.microsoft.com/office/drawing/2014/main" id="{62F6F635-2965-A334-FFBB-A2C7AAA14B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781" b="-890"/>
          <a:stretch>
            <a:fillRect/>
          </a:stretch>
        </p:blipFill>
        <p:spPr bwMode="auto">
          <a:xfrm>
            <a:off x="7494588" y="364004"/>
            <a:ext cx="1300480" cy="4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ll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6128DF-9211-42C1-924C-6ED55F92EB6B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EDCD3-1747-44F3-96BA-E6130A3B6926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F4FB5-DA46-4B59-B072-6321920AEBB2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EA4A9-FDDE-4124-B7ED-925DC65F175B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E5E23-3A4D-4919-B13A-C7C659D9A4C5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B2AB8-832B-49F2-B42A-94633B11C65B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D576C-72AA-4F04-A8FA-E6F9A0A78EDE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FF29A-FFB6-4DD6-A464-81F1AA41C051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F9FB2-5FC9-4031-A63F-55468B896A5A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4738C-8B56-494D-BC41-2CE5AB556F81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7836D-3339-4785-8DFE-44A62EE29901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08C1A-C322-4EB4-BA9F-19700BBFC068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DAE1D-11A1-49F4-93EC-7199E98355EC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A1D1E-1E28-4485-AF5B-903820166ABD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AC4B3-5A3D-46FF-910E-76BD3CA27CF1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FB3B8-2000-45D4-B347-7E71F8489649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33659-CCDF-4DBB-A007-035A35EBFBAD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E8BC2-DD62-47BB-8C21-C4F2D9E1D567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2A60-9143-45D9-9F8D-86CB2F603058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5364C-50A9-4793-ADA7-A5D0D5526088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77E9F4-9028-411F-A9B5-35B847CAD700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CA764CC5-BE13-4CD0-A152-5E42E1160D2F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ransition>
    <p:pull dir="r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/>
          <a:lstStyle/>
          <a:p>
            <a:r>
              <a:rPr lang="ro-RO" altLang="en-US" sz="2400" b="1" dirty="0">
                <a:latin typeface="Arial" charset="0"/>
                <a:cs typeface="Arial" charset="0"/>
              </a:rPr>
              <a:t>Circuite Electronice Fundamentale 2 – Proiect (CEF2-Pr)</a:t>
            </a:r>
            <a:r>
              <a:rPr lang="en-US" altLang="en-US" sz="2400" b="1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572000" y="5715000"/>
            <a:ext cx="441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ro-RO" sz="2000" b="1" dirty="0">
                <a:ea typeface="+mj-ea"/>
              </a:rPr>
              <a:t>Student</a:t>
            </a:r>
            <a:r>
              <a:rPr lang="en-US" sz="2000" b="1" dirty="0">
                <a:ea typeface="+mj-ea"/>
              </a:rPr>
              <a:t>: </a:t>
            </a:r>
            <a:r>
              <a:rPr lang="ro-RO" sz="2000" b="1" dirty="0">
                <a:ea typeface="+mj-ea"/>
              </a:rPr>
              <a:t>Negru Nicusor Gabriel</a:t>
            </a:r>
            <a:endParaRPr lang="en-US" sz="2000" b="1" dirty="0">
              <a:ea typeface="+mj-ea"/>
            </a:endParaRPr>
          </a:p>
          <a:p>
            <a:pPr>
              <a:defRPr/>
            </a:pPr>
            <a:r>
              <a:rPr lang="en-US" sz="2000" b="1" dirty="0">
                <a:ea typeface="+mj-ea"/>
              </a:rPr>
              <a:t>Grupa 4</a:t>
            </a:r>
            <a:r>
              <a:rPr lang="ro-RO" sz="2000" b="1" dirty="0">
                <a:ea typeface="+mj-ea"/>
              </a:rPr>
              <a:t>32E</a:t>
            </a:r>
            <a:endParaRPr lang="en-US" sz="2000" b="1" dirty="0">
              <a:ea typeface="+mj-ea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609600" y="320040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400" b="1" dirty="0">
                <a:ea typeface="+mj-ea"/>
              </a:rPr>
              <a:t>Tema:</a:t>
            </a:r>
            <a:r>
              <a:rPr lang="ro-RO" sz="2400" b="1" dirty="0">
                <a:ea typeface="+mj-ea"/>
              </a:rPr>
              <a:t> Generator de semnal dreptunghiular</a:t>
            </a:r>
            <a:r>
              <a:rPr lang="en-US" sz="2400" b="1" dirty="0">
                <a:ea typeface="+mj-ea"/>
              </a:rPr>
              <a:t>  </a:t>
            </a:r>
          </a:p>
        </p:txBody>
      </p:sp>
    </p:spTree>
  </p:cSld>
  <p:clrMapOvr>
    <a:masterClrMapping/>
  </p:clrMapOvr>
  <p:transition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en-US" altLang="en-US" sz="2400" b="1" dirty="0">
                <a:latin typeface="Arial" charset="0"/>
                <a:cs typeface="Arial" charset="0"/>
              </a:rPr>
              <a:t>Date de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proiectare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Title 1"/>
              <p:cNvSpPr txBox="1">
                <a:spLocks/>
              </p:cNvSpPr>
              <p:nvPr/>
            </p:nvSpPr>
            <p:spPr bwMode="auto">
              <a:xfrm>
                <a:off x="381000" y="1600200"/>
                <a:ext cx="8534400" cy="4953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r>
                  <a:rPr lang="ro-RO" dirty="0"/>
                  <a:t>Cerințe electrice:</a:t>
                </a:r>
              </a:p>
              <a:p>
                <a:r>
                  <a:rPr lang="ro-RO" dirty="0"/>
                  <a:t>• Frecvența de oscilație,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o-RO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dirty="0"/>
                  <a:t>, reglabilă în intervalul 32-64 KHz; </a:t>
                </a:r>
              </a:p>
              <a:p>
                <a:r>
                  <a:rPr lang="ro-RO" dirty="0"/>
                  <a:t>• Factor de umplere: 0.5; </a:t>
                </a:r>
              </a:p>
              <a:p>
                <a:r>
                  <a:rPr lang="ro-RO" dirty="0"/>
                  <a:t>• Sarcina la ieșire,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o-RO" i="1" dirty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ro-RO" dirty="0"/>
                  <a:t> : 16k</a:t>
                </a:r>
                <a:r>
                  <a:rPr lang="el-GR" dirty="0"/>
                  <a:t>Ω; </a:t>
                </a:r>
                <a:endParaRPr lang="ro-RO" dirty="0"/>
              </a:p>
              <a:p>
                <a:r>
                  <a:rPr lang="el-GR" dirty="0"/>
                  <a:t>• </a:t>
                </a:r>
                <a:r>
                  <a:rPr lang="ro-RO" dirty="0"/>
                  <a:t>Valoarea (vârf la vârf) a oscilației la ieșire,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dirty="0"/>
                  <a:t>, reglabilă în intervalul 0-4V; </a:t>
                </a:r>
              </a:p>
              <a:p>
                <a:r>
                  <a:rPr lang="ro-RO" dirty="0"/>
                  <a:t>• Semnalul la ieșire nu are componentă continuă; </a:t>
                </a:r>
              </a:p>
              <a:p>
                <a:r>
                  <a:rPr lang="ro-RO" dirty="0"/>
                  <a:t>• Domeniul temperaturilor de funcționare: 0° - 70°C</a:t>
                </a:r>
              </a:p>
              <a:p>
                <a:r>
                  <a:rPr lang="ro-RO" dirty="0"/>
                  <a:t>• Semnalizarea prezenței tensiunilor de intrare/ieșire cu o diodă de tip LED</a:t>
                </a:r>
              </a:p>
              <a:p>
                <a:endParaRPr lang="ro-RO" altLang="ro-RO" dirty="0">
                  <a:solidFill>
                    <a:srgbClr val="FF0000"/>
                  </a:solidFill>
                </a:endParaRPr>
              </a:p>
              <a:p>
                <a:r>
                  <a:rPr lang="ro-RO" altLang="ro-RO" dirty="0"/>
                  <a:t>Cerințe tehnologice: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o-RO" dirty="0"/>
                  <a:t>Dimensiunile PCB: 40mm x 40mm;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o-RO" dirty="0"/>
                  <a:t>Material FR4, dublu strat;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o-RO" dirty="0"/>
                  <a:t>Originea (punctul de coordonate (0,0)) va fi plasat în colţul din stânga-jos al plăcii de cablaj imprimat)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o-RO" dirty="0"/>
                  <a:t>Dimensiuni trasee: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ro-RO" dirty="0"/>
                  <a:t>Curent de 1A - 26 mil; 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ro-RO" dirty="0"/>
                  <a:t>Curent de sute de mA - 18 mil;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ro-RO" dirty="0"/>
                  <a:t>Semnal - 16 mil;</a:t>
                </a:r>
              </a:p>
            </p:txBody>
          </p:sp>
        </mc:Choice>
        <mc:Fallback xmlns="">
          <p:sp>
            <p:nvSpPr>
              <p:cNvPr id="409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1600200"/>
                <a:ext cx="8534400" cy="4953000"/>
              </a:xfrm>
              <a:prstGeom prst="rect">
                <a:avLst/>
              </a:prstGeom>
              <a:blipFill>
                <a:blip r:embed="rId2"/>
                <a:stretch>
                  <a:fillRect l="-643" t="-1478" b="-270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Schema bloc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5123" name="Title 1"/>
          <p:cNvSpPr txBox="1">
            <a:spLocks/>
          </p:cNvSpPr>
          <p:nvPr/>
        </p:nvSpPr>
        <p:spPr bwMode="auto">
          <a:xfrm>
            <a:off x="304800" y="1524000"/>
            <a:ext cx="48768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just"/>
            <a:r>
              <a:rPr lang="ro-RO" dirty="0"/>
              <a:t>Oscilatorul de relaxare este constituit dintr-un comparator inversor cu histerezis și o rețea RC pe intrarea inversoare. </a:t>
            </a:r>
          </a:p>
          <a:p>
            <a:pPr algn="just"/>
            <a:endParaRPr lang="ro-RO" dirty="0"/>
          </a:p>
          <a:p>
            <a:pPr algn="just"/>
            <a:r>
              <a:rPr lang="ro-RO" dirty="0"/>
              <a:t>Intrarea </a:t>
            </a:r>
            <a:r>
              <a:rPr lang="ro-RO" dirty="0" err="1"/>
              <a:t>neinversoare</a:t>
            </a:r>
            <a:r>
              <a:rPr lang="ro-RO" dirty="0"/>
              <a:t> este conectată la un divizorul de tensiune, prin intermediul căruia de aplică o parte din semnalul de la ieșire și prin care se fixează tensiunile de prag de histerezis. </a:t>
            </a:r>
          </a:p>
          <a:p>
            <a:pPr algn="just"/>
            <a:endParaRPr lang="ro-RO" dirty="0"/>
          </a:p>
          <a:p>
            <a:pPr algn="just"/>
            <a:r>
              <a:rPr lang="ro-RO" dirty="0"/>
              <a:t>Gruparea RC, la care se adaugă un potențiometru, setează frecvența de oscilație.</a:t>
            </a:r>
          </a:p>
          <a:p>
            <a:pPr algn="just"/>
            <a:endParaRPr lang="ro-RO" dirty="0"/>
          </a:p>
          <a:p>
            <a:pPr algn="just"/>
            <a:r>
              <a:rPr lang="ro-RO" dirty="0"/>
              <a:t>Amplificatorul operațional este alcătuit din trei etaje de amplificare.  </a:t>
            </a:r>
          </a:p>
          <a:p>
            <a:endParaRPr lang="en-US" altLang="ro-RO" dirty="0"/>
          </a:p>
        </p:txBody>
      </p:sp>
      <p:pic>
        <p:nvPicPr>
          <p:cNvPr id="3" name="Imagine 2" descr="O imagine care conține diagramă, schiță, linie, Desen tehnic&#10;&#10;Conținutul generat de inteligența artificială poate fi incorect.">
            <a:extLst>
              <a:ext uri="{FF2B5EF4-FFF2-40B4-BE49-F238E27FC236}">
                <a16:creationId xmlns:a16="http://schemas.microsoft.com/office/drawing/2014/main" id="{1C9B2ABA-E802-2EF1-2E76-B2BE7CA9F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447800"/>
            <a:ext cx="3134162" cy="4582164"/>
          </a:xfrm>
          <a:prstGeom prst="rect">
            <a:avLst/>
          </a:prstGeom>
        </p:spPr>
      </p:pic>
    </p:spTree>
  </p:cSld>
  <p:clrMapOvr>
    <a:masterClrMapping/>
  </p:clrMapOvr>
  <p:transition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Schema electrică 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6147" name="Title 1"/>
          <p:cNvSpPr txBox="1">
            <a:spLocks/>
          </p:cNvSpPr>
          <p:nvPr/>
        </p:nvSpPr>
        <p:spPr bwMode="auto">
          <a:xfrm>
            <a:off x="3048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en-US" altLang="ro-RO" dirty="0"/>
          </a:p>
        </p:txBody>
      </p:sp>
      <p:pic>
        <p:nvPicPr>
          <p:cNvPr id="3" name="Imagine 2" descr="O imagine care conține text, diagramă, linie, Plan&#10;&#10;Conținutul generat de inteligența artificială poate fi incorect.">
            <a:extLst>
              <a:ext uri="{FF2B5EF4-FFF2-40B4-BE49-F238E27FC236}">
                <a16:creationId xmlns:a16="http://schemas.microsoft.com/office/drawing/2014/main" id="{C0B68EF1-3412-DB85-4344-23D3A7D05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89" y="1790447"/>
            <a:ext cx="7678222" cy="4010585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FF0F1CC1-C964-4019-3243-777778AB92B4}"/>
              </a:ext>
            </a:extLst>
          </p:cNvPr>
          <p:cNvSpPr/>
          <p:nvPr/>
        </p:nvSpPr>
        <p:spPr>
          <a:xfrm>
            <a:off x="4038600" y="3581400"/>
            <a:ext cx="1752600" cy="1219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36271032-AF61-DB0F-026B-B89140850AB3}"/>
              </a:ext>
            </a:extLst>
          </p:cNvPr>
          <p:cNvSpPr txBox="1"/>
          <p:nvPr/>
        </p:nvSpPr>
        <p:spPr>
          <a:xfrm>
            <a:off x="4493937" y="4461741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Gruparea RC</a:t>
            </a:r>
            <a:endParaRPr lang="en-GB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00748AFE-6C69-B291-C185-A44005649363}"/>
              </a:ext>
            </a:extLst>
          </p:cNvPr>
          <p:cNvSpPr/>
          <p:nvPr/>
        </p:nvSpPr>
        <p:spPr>
          <a:xfrm>
            <a:off x="2667000" y="1905000"/>
            <a:ext cx="1295400" cy="381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D526D5D8-5AE5-009C-29A1-67291352F4B9}"/>
              </a:ext>
            </a:extLst>
          </p:cNvPr>
          <p:cNvSpPr txBox="1"/>
          <p:nvPr/>
        </p:nvSpPr>
        <p:spPr>
          <a:xfrm>
            <a:off x="2667000" y="2987171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Etaj diferențial</a:t>
            </a:r>
            <a:endParaRPr lang="en-GB" dirty="0"/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D095FE15-3A5C-5F0C-F67F-09BB5217F0C5}"/>
              </a:ext>
            </a:extLst>
          </p:cNvPr>
          <p:cNvSpPr/>
          <p:nvPr/>
        </p:nvSpPr>
        <p:spPr>
          <a:xfrm>
            <a:off x="1676400" y="3171837"/>
            <a:ext cx="533400" cy="1552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5D123D15-AB8C-CCF7-DB2F-985990AB3C45}"/>
              </a:ext>
            </a:extLst>
          </p:cNvPr>
          <p:cNvSpPr txBox="1"/>
          <p:nvPr/>
        </p:nvSpPr>
        <p:spPr>
          <a:xfrm>
            <a:off x="683726" y="3733800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Divizor rezistiv</a:t>
            </a:r>
            <a:endParaRPr lang="en-GB" dirty="0"/>
          </a:p>
        </p:txBody>
      </p:sp>
      <p:sp>
        <p:nvSpPr>
          <p:cNvPr id="10" name="Dreptunghi 9">
            <a:extLst>
              <a:ext uri="{FF2B5EF4-FFF2-40B4-BE49-F238E27FC236}">
                <a16:creationId xmlns:a16="http://schemas.microsoft.com/office/drawing/2014/main" id="{1C0704C1-FD73-A6C3-FE89-A90D4C9C7C6B}"/>
              </a:ext>
            </a:extLst>
          </p:cNvPr>
          <p:cNvSpPr/>
          <p:nvPr/>
        </p:nvSpPr>
        <p:spPr>
          <a:xfrm>
            <a:off x="7848600" y="3581400"/>
            <a:ext cx="457200" cy="1828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FCBFBE58-E88E-B999-FA68-B5399304E07C}"/>
              </a:ext>
            </a:extLst>
          </p:cNvPr>
          <p:cNvSpPr txBox="1"/>
          <p:nvPr/>
        </p:nvSpPr>
        <p:spPr>
          <a:xfrm>
            <a:off x="6850215" y="5101852"/>
            <a:ext cx="1595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o-RO" dirty="0"/>
              <a:t>Rezistenta de</a:t>
            </a:r>
          </a:p>
          <a:p>
            <a:pPr algn="ctr"/>
            <a:r>
              <a:rPr lang="ro-RO" dirty="0"/>
              <a:t>sarcină</a:t>
            </a:r>
            <a:endParaRPr lang="en-GB" dirty="0"/>
          </a:p>
        </p:txBody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0266E786-908C-E4B9-ED52-C23F000C0D1C}"/>
              </a:ext>
            </a:extLst>
          </p:cNvPr>
          <p:cNvSpPr/>
          <p:nvPr/>
        </p:nvSpPr>
        <p:spPr>
          <a:xfrm>
            <a:off x="5867400" y="1790446"/>
            <a:ext cx="1181758" cy="40007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FA0BBD0E-D3B1-0B73-1634-BC9956B80472}"/>
              </a:ext>
            </a:extLst>
          </p:cNvPr>
          <p:cNvSpPr txBox="1"/>
          <p:nvPr/>
        </p:nvSpPr>
        <p:spPr>
          <a:xfrm>
            <a:off x="6169151" y="2398121"/>
            <a:ext cx="2249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Etaje de amplificare</a:t>
            </a:r>
          </a:p>
          <a:p>
            <a:r>
              <a:rPr lang="ro-RO" dirty="0"/>
              <a:t>În tensiune și curent</a:t>
            </a:r>
            <a:endParaRPr lang="en-GB" dirty="0"/>
          </a:p>
        </p:txBody>
      </p:sp>
      <p:sp>
        <p:nvSpPr>
          <p:cNvPr id="14" name="Dreptunghi 13">
            <a:extLst>
              <a:ext uri="{FF2B5EF4-FFF2-40B4-BE49-F238E27FC236}">
                <a16:creationId xmlns:a16="http://schemas.microsoft.com/office/drawing/2014/main" id="{E83EF193-1AD3-003B-9C93-85F1D5C8F6D1}"/>
              </a:ext>
            </a:extLst>
          </p:cNvPr>
          <p:cNvSpPr/>
          <p:nvPr/>
        </p:nvSpPr>
        <p:spPr>
          <a:xfrm>
            <a:off x="838200" y="1905000"/>
            <a:ext cx="1517779" cy="10821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B1BB4B79-87E8-A57E-059A-2F0391A94ADB}"/>
              </a:ext>
            </a:extLst>
          </p:cNvPr>
          <p:cNvSpPr/>
          <p:nvPr/>
        </p:nvSpPr>
        <p:spPr>
          <a:xfrm>
            <a:off x="838200" y="4800600"/>
            <a:ext cx="1672253" cy="838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Conector drept cu săgeată 16">
            <a:extLst>
              <a:ext uri="{FF2B5EF4-FFF2-40B4-BE49-F238E27FC236}">
                <a16:creationId xmlns:a16="http://schemas.microsoft.com/office/drawing/2014/main" id="{6118E742-F54F-7A18-BBD5-BF9837A33DC5}"/>
              </a:ext>
            </a:extLst>
          </p:cNvPr>
          <p:cNvCxnSpPr/>
          <p:nvPr/>
        </p:nvCxnSpPr>
        <p:spPr>
          <a:xfrm>
            <a:off x="1219200" y="3171837"/>
            <a:ext cx="0" cy="2085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tăText 17">
            <a:extLst>
              <a:ext uri="{FF2B5EF4-FFF2-40B4-BE49-F238E27FC236}">
                <a16:creationId xmlns:a16="http://schemas.microsoft.com/office/drawing/2014/main" id="{809ABB4B-B0F5-DD0A-DA15-CE6B6363EE81}"/>
              </a:ext>
            </a:extLst>
          </p:cNvPr>
          <p:cNvSpPr txBox="1"/>
          <p:nvPr/>
        </p:nvSpPr>
        <p:spPr>
          <a:xfrm>
            <a:off x="683726" y="2620072"/>
            <a:ext cx="210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Alimentarea și</a:t>
            </a:r>
          </a:p>
          <a:p>
            <a:r>
              <a:rPr lang="ro-RO" dirty="0"/>
              <a:t>Semnalizarea LED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Simulări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7171" name="Title 1"/>
          <p:cNvSpPr txBox="1">
            <a:spLocks/>
          </p:cNvSpPr>
          <p:nvPr/>
        </p:nvSpPr>
        <p:spPr bwMode="auto">
          <a:xfrm>
            <a:off x="2286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en-US" altLang="ro-RO" dirty="0"/>
          </a:p>
        </p:txBody>
      </p:sp>
      <p:pic>
        <p:nvPicPr>
          <p:cNvPr id="7" name="Imagine 6" descr="O imagine care conține text, diagramă, captură de ecran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00130903-DD0C-91EF-19EA-B98CDE922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44" y="1609970"/>
            <a:ext cx="8126312" cy="4181230"/>
          </a:xfrm>
          <a:prstGeom prst="rect">
            <a:avLst/>
          </a:prstGeom>
        </p:spPr>
      </p:pic>
    </p:spTree>
  </p:cSld>
  <p:clrMapOvr>
    <a:masterClrMapping/>
  </p:clrMapOvr>
  <p:transition>
    <p:pull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7D889-4E7A-73B3-B839-A7DCA675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78D39E41-6329-3B2A-49AE-A9321E117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Simulări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7171" name="Title 1">
            <a:extLst>
              <a:ext uri="{FF2B5EF4-FFF2-40B4-BE49-F238E27FC236}">
                <a16:creationId xmlns:a16="http://schemas.microsoft.com/office/drawing/2014/main" id="{1E420573-7F2A-93BC-42EB-7CD8089F10D0}"/>
              </a:ext>
            </a:extLst>
          </p:cNvPr>
          <p:cNvSpPr txBox="1">
            <a:spLocks/>
          </p:cNvSpPr>
          <p:nvPr/>
        </p:nvSpPr>
        <p:spPr bwMode="auto">
          <a:xfrm>
            <a:off x="2286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en-US" altLang="ro-RO" dirty="0"/>
          </a:p>
        </p:txBody>
      </p:sp>
      <p:pic>
        <p:nvPicPr>
          <p:cNvPr id="4" name="Imagine 3" descr="O imagine care conține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BB0B58D0-3C19-C3B6-A930-A0A2123FD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2" y="1661993"/>
            <a:ext cx="7154273" cy="2086213"/>
          </a:xfrm>
          <a:prstGeom prst="rect">
            <a:avLst/>
          </a:prstGeom>
        </p:spPr>
      </p:pic>
      <p:pic>
        <p:nvPicPr>
          <p:cNvPr id="7" name="Imagine 6" descr="O imagine care conține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28B70A25-1731-1025-225D-E20BCC368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1" y="3886199"/>
            <a:ext cx="7154273" cy="20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11185"/>
      </p:ext>
    </p:extLst>
  </p:cSld>
  <p:clrMapOvr>
    <a:masterClrMapping/>
  </p:clrMapOvr>
  <p:transition>
    <p:pull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 dirty="0">
                <a:latin typeface="Arial" charset="0"/>
                <a:cs typeface="Arial" charset="0"/>
              </a:rPr>
              <a:t>Layout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28600" y="1447800"/>
            <a:ext cx="3962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400" b="1" dirty="0"/>
              <a:t>V</a:t>
            </a:r>
            <a:r>
              <a:rPr lang="ro-RO" sz="2400" b="1" dirty="0" err="1"/>
              <a:t>edere</a:t>
            </a:r>
            <a:r>
              <a:rPr lang="ro-RO" sz="2400" b="1" dirty="0"/>
              <a:t> Top</a:t>
            </a:r>
          </a:p>
          <a:p>
            <a:pPr>
              <a:defRPr/>
            </a:pPr>
            <a:endParaRPr lang="ro-RO" b="1" dirty="0"/>
          </a:p>
          <a:p>
            <a:pPr algn="just">
              <a:defRPr/>
            </a:pPr>
            <a:br>
              <a:rPr lang="ro-RO" dirty="0"/>
            </a:br>
            <a:r>
              <a:rPr lang="ro-RO" dirty="0"/>
              <a:t>Poziționarea componentelor s-a realizat pe baza următoarelor condiții:</a:t>
            </a:r>
          </a:p>
          <a:p>
            <a:pPr algn="just">
              <a:defRPr/>
            </a:pPr>
            <a:endParaRPr lang="ro-RO" dirty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ro-RO" dirty="0"/>
              <a:t>Componentele pasive au fost așezate spre exteriorul plăcii, iar cele active, în mijloc. 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ro-RO" dirty="0"/>
              <a:t>Tranzistoarele au fost plasate cât mai apropiate pentru a concentra distribuția căldurii. </a:t>
            </a:r>
          </a:p>
          <a:p>
            <a:pPr>
              <a:defRPr/>
            </a:pPr>
            <a:endParaRPr lang="en-US" dirty="0">
              <a:ea typeface="+mj-ea"/>
            </a:endParaRPr>
          </a:p>
        </p:txBody>
      </p:sp>
      <p:pic>
        <p:nvPicPr>
          <p:cNvPr id="3" name="Imagine 2" descr="O imagine care conține text, captură de ecran, Color, electronice&#10;&#10;Conținutul generat de inteligența artificială poate fi incorect.">
            <a:extLst>
              <a:ext uri="{FF2B5EF4-FFF2-40B4-BE49-F238E27FC236}">
                <a16:creationId xmlns:a16="http://schemas.microsoft.com/office/drawing/2014/main" id="{B661B035-934A-9B07-2ED4-921A3FE20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25112"/>
            <a:ext cx="4272116" cy="4185753"/>
          </a:xfrm>
          <a:prstGeom prst="rect">
            <a:avLst/>
          </a:prstGeom>
        </p:spPr>
      </p:pic>
    </p:spTree>
  </p:cSld>
  <p:clrMapOvr>
    <a:masterClrMapping/>
  </p:clrMapOvr>
  <p:transition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9EB2-2187-14A9-9AD9-23CDF082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3CEAFBD-194B-B34A-E72C-364784436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 dirty="0">
                <a:latin typeface="Arial" charset="0"/>
                <a:cs typeface="Arial" charset="0"/>
              </a:rPr>
              <a:t>Layout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D6A6B8-6166-0FF1-87F7-E1C168B1CB69}"/>
              </a:ext>
            </a:extLst>
          </p:cNvPr>
          <p:cNvSpPr txBox="1">
            <a:spLocks/>
          </p:cNvSpPr>
          <p:nvPr/>
        </p:nvSpPr>
        <p:spPr bwMode="auto">
          <a:xfrm>
            <a:off x="228600" y="1447800"/>
            <a:ext cx="3962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400" b="1" dirty="0"/>
              <a:t>V</a:t>
            </a:r>
            <a:r>
              <a:rPr lang="ro-RO" sz="2400" b="1" dirty="0" err="1"/>
              <a:t>edere</a:t>
            </a:r>
            <a:r>
              <a:rPr lang="en-US" sz="2400" b="1" dirty="0"/>
              <a:t> Bottom</a:t>
            </a:r>
            <a:endParaRPr lang="ro-RO" sz="2400" b="1" dirty="0"/>
          </a:p>
          <a:p>
            <a:pPr>
              <a:buFont typeface="Arial" pitchFamily="34" charset="0"/>
              <a:buChar char="•"/>
              <a:defRPr/>
            </a:pPr>
            <a:endParaRPr lang="ro-RO" dirty="0"/>
          </a:p>
          <a:p>
            <a:pPr algn="just">
              <a:buFont typeface="Arial" pitchFamily="34" charset="0"/>
              <a:buChar char="•"/>
              <a:defRPr/>
            </a:pPr>
            <a:r>
              <a:rPr lang="ro-RO" dirty="0"/>
              <a:t> Dimensiunile traseelor s-au setat în concordanță cu cerințele de proiectare.</a:t>
            </a:r>
          </a:p>
          <a:p>
            <a:pPr>
              <a:defRPr/>
            </a:pPr>
            <a:endParaRPr lang="en-US" dirty="0">
              <a:ea typeface="+mj-ea"/>
            </a:endParaRPr>
          </a:p>
        </p:txBody>
      </p:sp>
      <p:pic>
        <p:nvPicPr>
          <p:cNvPr id="4" name="Imagine 3" descr="O imagine care conține captură de ecran, Dreptunghi, model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60CB9E48-0908-B78B-0F4D-78633900A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86" y="1676400"/>
            <a:ext cx="4394075" cy="435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586862"/>
      </p:ext>
    </p:extLst>
  </p:cSld>
  <p:clrMapOvr>
    <a:masterClrMapping/>
  </p:clrMapOvr>
  <p:transition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304800" y="685800"/>
            <a:ext cx="8610600" cy="914400"/>
          </a:xfrm>
        </p:spPr>
        <p:txBody>
          <a:bodyPr/>
          <a:lstStyle/>
          <a:p>
            <a:pPr algn="l"/>
            <a:r>
              <a:rPr lang="en-GB" altLang="en-US" sz="2400" b="1" dirty="0" err="1">
                <a:latin typeface="Arial" charset="0"/>
                <a:cs typeface="Arial" charset="0"/>
              </a:rPr>
              <a:t>Fotografii</a:t>
            </a:r>
            <a:r>
              <a:rPr lang="en-GB" altLang="en-US" sz="2400" b="1" dirty="0">
                <a:latin typeface="Arial" charset="0"/>
                <a:cs typeface="Arial" charset="0"/>
              </a:rPr>
              <a:t> din </a:t>
            </a:r>
            <a:r>
              <a:rPr lang="en-GB" altLang="en-US" sz="2400" b="1" dirty="0" err="1">
                <a:latin typeface="Arial" charset="0"/>
                <a:cs typeface="Arial" charset="0"/>
              </a:rPr>
              <a:t>etapa</a:t>
            </a:r>
            <a:r>
              <a:rPr lang="en-GB" altLang="en-US" sz="2400" b="1" dirty="0">
                <a:latin typeface="Arial" charset="0"/>
                <a:cs typeface="Arial" charset="0"/>
              </a:rPr>
              <a:t> de </a:t>
            </a:r>
            <a:r>
              <a:rPr lang="en-GB" altLang="en-US" sz="2400" b="1" dirty="0" err="1">
                <a:latin typeface="Arial" charset="0"/>
                <a:cs typeface="Arial" charset="0"/>
              </a:rPr>
              <a:t>echipare</a:t>
            </a:r>
            <a:r>
              <a:rPr lang="en-GB" altLang="en-US" sz="2400" b="1" dirty="0">
                <a:latin typeface="Arial" charset="0"/>
                <a:cs typeface="Arial" charset="0"/>
              </a:rPr>
              <a:t> a </a:t>
            </a:r>
            <a:r>
              <a:rPr lang="en-GB" altLang="en-US" sz="2400" b="1" dirty="0" err="1">
                <a:latin typeface="Arial" charset="0"/>
                <a:cs typeface="Arial" charset="0"/>
              </a:rPr>
              <a:t>modulului</a:t>
            </a:r>
            <a:r>
              <a:rPr lang="en-GB" altLang="en-US" sz="2400" b="1" dirty="0">
                <a:latin typeface="Arial" charset="0"/>
                <a:cs typeface="Arial" charset="0"/>
              </a:rPr>
              <a:t> electronic</a:t>
            </a:r>
            <a:endParaRPr lang="en-US" altLang="en-US" sz="24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9219" name="Title 1"/>
          <p:cNvSpPr txBox="1">
            <a:spLocks/>
          </p:cNvSpPr>
          <p:nvPr/>
        </p:nvSpPr>
        <p:spPr bwMode="auto">
          <a:xfrm>
            <a:off x="2286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r>
              <a:rPr lang="en-US" altLang="ro-RO" dirty="0"/>
              <a:t> </a:t>
            </a:r>
            <a:r>
              <a:rPr lang="ro-RO" altLang="ro-RO" dirty="0"/>
              <a:t>Layout PCB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Foto PCB echipat</a:t>
            </a: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rgbClr val="FF0000"/>
                </a:solidFill>
              </a:rPr>
              <a:t> Maxim </a:t>
            </a:r>
            <a:r>
              <a:rPr lang="en-GB" altLang="ro-RO" dirty="0">
                <a:solidFill>
                  <a:srgbClr val="FF0000"/>
                </a:solidFill>
              </a:rPr>
              <a:t>o</a:t>
            </a:r>
            <a:r>
              <a:rPr lang="ro-RO" altLang="ro-RO" dirty="0">
                <a:solidFill>
                  <a:srgbClr val="FF0000"/>
                </a:solidFill>
              </a:rPr>
              <a:t> pagină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Rezultate experimentale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9219" name="Title 1"/>
          <p:cNvSpPr txBox="1">
            <a:spLocks/>
          </p:cNvSpPr>
          <p:nvPr/>
        </p:nvSpPr>
        <p:spPr bwMode="auto">
          <a:xfrm>
            <a:off x="2286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r>
              <a:rPr lang="en-GB" altLang="ro-RO" dirty="0"/>
              <a:t> </a:t>
            </a:r>
            <a:r>
              <a:rPr lang="ro-RO" altLang="ro-RO" dirty="0"/>
              <a:t>Foto forme de undă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Tabele măsurători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Tot ceea ce justifică funcționarea proiectului în specificațiile impuse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ro-RO" altLang="ro-RO" dirty="0">
                <a:solidFill>
                  <a:srgbClr val="FF0000"/>
                </a:solidFill>
              </a:rPr>
              <a:t>Maxim două pagini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Rezultate experimentale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52400" y="1600200"/>
            <a:ext cx="853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just">
              <a:buFont typeface="Arial" pitchFamily="34" charset="0"/>
              <a:buChar char="•"/>
              <a:defRPr/>
            </a:pPr>
            <a:r>
              <a:rPr lang="ro-RO" dirty="0">
                <a:ea typeface="+mj-ea"/>
              </a:rPr>
              <a:t>Tabel comparativ </a:t>
            </a:r>
            <a:endParaRPr lang="en-US" dirty="0">
              <a:ea typeface="+mj-ea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124971"/>
              </p:ext>
            </p:extLst>
          </p:nvPr>
        </p:nvGraphicFramePr>
        <p:xfrm>
          <a:off x="304800" y="2362200"/>
          <a:ext cx="8382000" cy="2971800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Cerințe impuse</a:t>
                      </a:r>
                      <a:endParaRPr kumimoji="0" lang="en-US" altLang="ro-R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Rezultate simulări</a:t>
                      </a:r>
                      <a:endParaRPr kumimoji="0" lang="en-US" altLang="ro-RO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Rezultate măsurători</a:t>
                      </a:r>
                      <a:endParaRPr kumimoji="0" lang="en-US" altLang="ro-RO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Fmin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32 kHz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Fmin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34,53 kHz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Fmax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64 kHz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Fmax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60,81 kHz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Vo,min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0 </a:t>
                      </a: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Vpp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Vo,min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570 </a:t>
                      </a: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nVpp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Vo,max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4 </a:t>
                      </a: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Vpp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Vo,max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3,98 </a:t>
                      </a: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Vpp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η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0,5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η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0,51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Voffset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0 </a:t>
                      </a: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Vpp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Voffset</a:t>
                      </a:r>
                      <a:r>
                        <a:rPr kumimoji="0" lang="ro-RO" altLang="ro-R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= 77,63 </a:t>
                      </a:r>
                      <a:r>
                        <a:rPr kumimoji="0" lang="ro-RO" altLang="ro-RO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uVpp</a:t>
                      </a: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0" y="2743200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Concluzii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11267" name="Title 1"/>
          <p:cNvSpPr txBox="1">
            <a:spLocks/>
          </p:cNvSpPr>
          <p:nvPr/>
        </p:nvSpPr>
        <p:spPr bwMode="auto">
          <a:xfrm>
            <a:off x="1524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r>
              <a:rPr lang="en-US" altLang="ro-RO" dirty="0"/>
              <a:t> </a:t>
            </a:r>
            <a:r>
              <a:rPr lang="ro-RO" altLang="ro-RO" dirty="0"/>
              <a:t>Se comentează rezultatele obținute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Ce îmbunătățiri ar putea fi aduse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În cazul în care proiectul nu a funcționat la prima încercare, se scot în evidență erorile de concept/realizare (d.p.d.v al proiectării schemei, layout-ului, etc. )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en-US" altLang="ro-RO" dirty="0"/>
              <a:t>C</a:t>
            </a:r>
            <a:r>
              <a:rPr lang="ro-RO" altLang="ro-RO" dirty="0"/>
              <a:t>um ar putea fi depanat – plan de depanare (organigramă)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en-US" altLang="ro-RO" dirty="0">
                <a:solidFill>
                  <a:srgbClr val="FF0000"/>
                </a:solidFill>
              </a:rPr>
              <a:t>M</a:t>
            </a:r>
            <a:r>
              <a:rPr lang="ro-RO" altLang="ro-RO" dirty="0">
                <a:solidFill>
                  <a:srgbClr val="FF0000"/>
                </a:solidFill>
              </a:rPr>
              <a:t>axim două pagini</a:t>
            </a:r>
          </a:p>
          <a:p>
            <a:pPr>
              <a:buFont typeface="Arial" charset="0"/>
              <a:buChar char="•"/>
            </a:pPr>
            <a:endParaRPr lang="ro-RO" altLang="ro-RO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rgbClr val="FF0000"/>
                </a:solidFill>
              </a:rPr>
              <a:t> ! Timpul maxim acordat expunerii este de </a:t>
            </a:r>
            <a:r>
              <a:rPr lang="en-US" altLang="ro-RO" dirty="0">
                <a:solidFill>
                  <a:srgbClr val="FF0000"/>
                </a:solidFill>
              </a:rPr>
              <a:t>5-6</a:t>
            </a:r>
            <a:r>
              <a:rPr lang="ro-RO" altLang="ro-RO" dirty="0">
                <a:solidFill>
                  <a:srgbClr val="FF0000"/>
                </a:solidFill>
              </a:rPr>
              <a:t> minute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 dirty="0">
                <a:latin typeface="Arial" charset="0"/>
                <a:cs typeface="Arial" charset="0"/>
              </a:rPr>
              <a:t>Concluzii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12291" name="Title 1"/>
          <p:cNvSpPr txBox="1">
            <a:spLocks/>
          </p:cNvSpPr>
          <p:nvPr/>
        </p:nvSpPr>
        <p:spPr bwMode="auto">
          <a:xfrm>
            <a:off x="152400" y="1524000"/>
            <a:ext cx="8763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231775" indent="-231775">
              <a:buFont typeface="Arial" charset="0"/>
              <a:buChar char="•"/>
            </a:pPr>
            <a:r>
              <a:rPr lang="en-US" altLang="ro-RO" dirty="0"/>
              <a:t>Ce </a:t>
            </a:r>
            <a:r>
              <a:rPr lang="ro-RO" altLang="ro-RO" dirty="0" err="1"/>
              <a:t>cunoș</a:t>
            </a:r>
            <a:r>
              <a:rPr lang="en-US" altLang="ro-RO" dirty="0"/>
              <a:t>tin</a:t>
            </a:r>
            <a:r>
              <a:rPr lang="ro-RO" altLang="ro-RO" dirty="0"/>
              <a:t>ț</a:t>
            </a:r>
            <a:r>
              <a:rPr lang="en-US" altLang="ro-RO" dirty="0"/>
              <a:t>e au </a:t>
            </a:r>
            <a:r>
              <a:rPr lang="en-US" altLang="ro-RO" dirty="0" err="1"/>
              <a:t>fost</a:t>
            </a:r>
            <a:r>
              <a:rPr lang="en-US" altLang="ro-RO" dirty="0"/>
              <a:t> dob</a:t>
            </a:r>
            <a:r>
              <a:rPr lang="ro-RO" altLang="ro-RO" dirty="0"/>
              <a:t>â</a:t>
            </a:r>
            <a:r>
              <a:rPr lang="en-US" altLang="ro-RO" dirty="0" err="1"/>
              <a:t>ndite</a:t>
            </a:r>
            <a:r>
              <a:rPr lang="en-US" altLang="ro-RO" dirty="0"/>
              <a:t> pe </a:t>
            </a:r>
            <a:r>
              <a:rPr lang="en-US" altLang="ro-RO" dirty="0" err="1"/>
              <a:t>parcursul</a:t>
            </a:r>
            <a:r>
              <a:rPr lang="en-US" altLang="ro-RO" dirty="0"/>
              <a:t> </a:t>
            </a:r>
            <a:r>
              <a:rPr lang="en-US" altLang="ro-RO" dirty="0" err="1"/>
              <a:t>activit</a:t>
            </a:r>
            <a:r>
              <a:rPr lang="ro-RO" altLang="ro-RO" dirty="0" err="1"/>
              <a:t>ăț</a:t>
            </a:r>
            <a:r>
              <a:rPr lang="en-US" altLang="ro-RO" dirty="0" err="1"/>
              <a:t>ilor</a:t>
            </a:r>
            <a:r>
              <a:rPr lang="en-US" altLang="ro-RO" dirty="0"/>
              <a:t> </a:t>
            </a:r>
            <a:r>
              <a:rPr lang="en-US" altLang="ro-RO" dirty="0" err="1"/>
              <a:t>desf</a:t>
            </a:r>
            <a:r>
              <a:rPr lang="ro-RO" altLang="ro-RO" dirty="0" err="1"/>
              <a:t>ăș</a:t>
            </a:r>
            <a:r>
              <a:rPr lang="en-US" altLang="ro-RO" dirty="0"/>
              <a:t>urate </a:t>
            </a:r>
            <a:r>
              <a:rPr lang="ro-RO" altLang="ro-RO" dirty="0"/>
              <a:t>î</a:t>
            </a:r>
            <a:r>
              <a:rPr lang="en-US" altLang="ro-RO" dirty="0"/>
              <a:t>n </a:t>
            </a:r>
            <a:r>
              <a:rPr lang="en-US" altLang="ro-RO" dirty="0" err="1"/>
              <a:t>cadrul</a:t>
            </a:r>
            <a:r>
              <a:rPr lang="en-US" altLang="ro-RO" dirty="0"/>
              <a:t> </a:t>
            </a:r>
            <a:r>
              <a:rPr lang="en-US" altLang="ro-RO" dirty="0" err="1"/>
              <a:t>proiectului</a:t>
            </a:r>
            <a:endParaRPr lang="en-US" altLang="ro-RO" dirty="0"/>
          </a:p>
          <a:p>
            <a:pPr marL="231775" indent="-231775">
              <a:buFont typeface="Arial" charset="0"/>
              <a:buChar char="•"/>
            </a:pPr>
            <a:r>
              <a:rPr lang="en-US" altLang="ro-RO" dirty="0" err="1"/>
              <a:t>Eviden</a:t>
            </a:r>
            <a:r>
              <a:rPr lang="ro-RO" altLang="ro-RO" dirty="0"/>
              <a:t>ț</a:t>
            </a:r>
            <a:r>
              <a:rPr lang="en-US" altLang="ro-RO" dirty="0" err="1"/>
              <a:t>ia</a:t>
            </a:r>
            <a:r>
              <a:rPr lang="ro-RO" altLang="ro-RO" dirty="0"/>
              <a:t>ț</a:t>
            </a:r>
            <a:r>
              <a:rPr lang="en-US" altLang="ro-RO" dirty="0" err="1"/>
              <a:t>i</a:t>
            </a:r>
            <a:r>
              <a:rPr lang="en-US" altLang="ro-RO" dirty="0"/>
              <a:t>, </a:t>
            </a:r>
            <a:r>
              <a:rPr lang="en-US" altLang="ro-RO" dirty="0" err="1"/>
              <a:t>dac</a:t>
            </a:r>
            <a:r>
              <a:rPr lang="ro-RO" altLang="ro-RO" dirty="0"/>
              <a:t>ă</a:t>
            </a:r>
            <a:r>
              <a:rPr lang="en-US" altLang="ro-RO" dirty="0"/>
              <a:t> exist</a:t>
            </a:r>
            <a:r>
              <a:rPr lang="ro-RO" altLang="ro-RO" dirty="0"/>
              <a:t>ă</a:t>
            </a:r>
            <a:r>
              <a:rPr lang="en-US" altLang="ro-RO" dirty="0"/>
              <a:t>, p</a:t>
            </a:r>
            <a:r>
              <a:rPr lang="ro-RO" altLang="ro-RO" dirty="0"/>
              <a:t>ă</a:t>
            </a:r>
            <a:r>
              <a:rPr lang="en-US" altLang="ro-RO" dirty="0"/>
              <a:t>r</a:t>
            </a:r>
            <a:r>
              <a:rPr lang="ro-RO" altLang="ro-RO" dirty="0"/>
              <a:t>ț</a:t>
            </a:r>
            <a:r>
              <a:rPr lang="en-US" altLang="ro-RO" dirty="0" err="1"/>
              <a:t>ile</a:t>
            </a:r>
            <a:r>
              <a:rPr lang="en-US" altLang="ro-RO" dirty="0"/>
              <a:t> </a:t>
            </a:r>
            <a:r>
              <a:rPr lang="en-US" altLang="ro-RO" dirty="0" err="1"/>
              <a:t>bune</a:t>
            </a:r>
            <a:r>
              <a:rPr lang="en-US" altLang="ro-RO" dirty="0"/>
              <a:t> legate de </a:t>
            </a:r>
            <a:r>
              <a:rPr lang="en-US" altLang="ro-RO" dirty="0" err="1"/>
              <a:t>activitatea</a:t>
            </a:r>
            <a:r>
              <a:rPr lang="en-US" altLang="ro-RO" dirty="0"/>
              <a:t> </a:t>
            </a:r>
            <a:r>
              <a:rPr lang="en-US" altLang="ro-RO" dirty="0" err="1"/>
              <a:t>depus</a:t>
            </a:r>
            <a:r>
              <a:rPr lang="ro-RO" altLang="ro-RO" dirty="0"/>
              <a:t>ă</a:t>
            </a:r>
            <a:r>
              <a:rPr lang="en-US" altLang="ro-RO" dirty="0"/>
              <a:t> </a:t>
            </a:r>
            <a:r>
              <a:rPr lang="ro-RO" altLang="ro-RO" dirty="0"/>
              <a:t>ș</a:t>
            </a:r>
            <a:r>
              <a:rPr lang="en-US" altLang="ro-RO" dirty="0" err="1"/>
              <a:t>i</a:t>
            </a:r>
            <a:r>
              <a:rPr lang="en-US" altLang="ro-RO" dirty="0"/>
              <a:t>/ </a:t>
            </a:r>
            <a:r>
              <a:rPr lang="en-US" altLang="ro-RO" dirty="0" err="1"/>
              <a:t>sau</a:t>
            </a:r>
            <a:r>
              <a:rPr lang="en-US" altLang="ro-RO" dirty="0"/>
              <a:t> </a:t>
            </a:r>
            <a:r>
              <a:rPr lang="en-US" altLang="ro-RO" dirty="0" err="1"/>
              <a:t>preciza</a:t>
            </a:r>
            <a:r>
              <a:rPr lang="ro-RO" altLang="ro-RO" dirty="0"/>
              <a:t>ț</a:t>
            </a:r>
            <a:r>
              <a:rPr lang="en-US" altLang="ro-RO" dirty="0" err="1"/>
              <a:t>i</a:t>
            </a:r>
            <a:r>
              <a:rPr lang="en-US" altLang="ro-RO" dirty="0"/>
              <a:t> p</a:t>
            </a:r>
            <a:r>
              <a:rPr lang="ro-RO" altLang="ro-RO" dirty="0"/>
              <a:t>ă</a:t>
            </a:r>
            <a:r>
              <a:rPr lang="en-US" altLang="ro-RO" dirty="0"/>
              <a:t>r</a:t>
            </a:r>
            <a:r>
              <a:rPr lang="ro-RO" altLang="ro-RO" dirty="0"/>
              <a:t>ț</a:t>
            </a:r>
            <a:r>
              <a:rPr lang="en-US" altLang="ro-RO" dirty="0" err="1"/>
              <a:t>ile</a:t>
            </a:r>
            <a:r>
              <a:rPr lang="en-US" altLang="ro-RO" dirty="0"/>
              <a:t> </a:t>
            </a:r>
            <a:r>
              <a:rPr lang="en-US" altLang="ro-RO" dirty="0" err="1"/>
              <a:t>slabe</a:t>
            </a:r>
            <a:r>
              <a:rPr lang="en-US" altLang="ro-RO" dirty="0"/>
              <a:t> </a:t>
            </a:r>
            <a:r>
              <a:rPr lang="en-US" altLang="ro-RO" dirty="0" err="1"/>
              <a:t>existente</a:t>
            </a:r>
            <a:r>
              <a:rPr lang="en-US" altLang="ro-RO" dirty="0"/>
              <a:t> </a:t>
            </a:r>
            <a:r>
              <a:rPr lang="ro-RO" altLang="ro-RO" dirty="0"/>
              <a:t>î</a:t>
            </a:r>
            <a:r>
              <a:rPr lang="en-US" altLang="ro-RO" dirty="0"/>
              <a:t>n </a:t>
            </a:r>
            <a:r>
              <a:rPr lang="en-US" altLang="ro-RO" dirty="0" err="1"/>
              <a:t>organizarea</a:t>
            </a:r>
            <a:r>
              <a:rPr lang="en-US" altLang="ro-RO" dirty="0"/>
              <a:t> </a:t>
            </a:r>
            <a:r>
              <a:rPr lang="en-US" altLang="ro-RO" dirty="0" err="1"/>
              <a:t>desf</a:t>
            </a:r>
            <a:r>
              <a:rPr lang="ro-RO" altLang="ro-RO" dirty="0" err="1"/>
              <a:t>ăș</a:t>
            </a:r>
            <a:r>
              <a:rPr lang="en-US" altLang="ro-RO" dirty="0" err="1"/>
              <a:t>ur</a:t>
            </a:r>
            <a:r>
              <a:rPr lang="ro-RO" altLang="ro-RO" dirty="0"/>
              <a:t>ă</a:t>
            </a:r>
            <a:r>
              <a:rPr lang="en-US" altLang="ro-RO" dirty="0" err="1"/>
              <a:t>rii</a:t>
            </a:r>
            <a:r>
              <a:rPr lang="en-US" altLang="ro-RO" dirty="0"/>
              <a:t> </a:t>
            </a:r>
            <a:r>
              <a:rPr lang="en-US" altLang="ro-RO" dirty="0" err="1"/>
              <a:t>proiectului</a:t>
            </a:r>
            <a:r>
              <a:rPr lang="ro-RO" altLang="ro-RO" dirty="0"/>
              <a:t> </a:t>
            </a:r>
            <a:endParaRPr lang="en-US" altLang="ro-RO" dirty="0"/>
          </a:p>
          <a:p>
            <a:pPr marL="231775" indent="-231775">
              <a:buFont typeface="Arial" charset="0"/>
              <a:buChar char="•"/>
            </a:pPr>
            <a:r>
              <a:rPr lang="en-US" altLang="ro-RO" dirty="0"/>
              <a:t>Care </a:t>
            </a:r>
            <a:r>
              <a:rPr lang="en-US" altLang="ro-RO" dirty="0" err="1"/>
              <a:t>ar</a:t>
            </a:r>
            <a:r>
              <a:rPr lang="en-US" altLang="ro-RO" dirty="0"/>
              <a:t> fi </a:t>
            </a:r>
            <a:r>
              <a:rPr lang="en-US" altLang="ro-RO" dirty="0" err="1"/>
              <a:t>propunerea</a:t>
            </a:r>
            <a:r>
              <a:rPr lang="en-US" altLang="ro-RO" dirty="0"/>
              <a:t> </a:t>
            </a:r>
            <a:r>
              <a:rPr lang="en-US" altLang="ro-RO" dirty="0" err="1"/>
              <a:t>voastr</a:t>
            </a:r>
            <a:r>
              <a:rPr lang="ro-RO" altLang="ro-RO" dirty="0"/>
              <a:t>ă</a:t>
            </a:r>
            <a:r>
              <a:rPr lang="en-US" altLang="ro-RO" dirty="0"/>
              <a:t>, </a:t>
            </a:r>
            <a:r>
              <a:rPr lang="en-US" altLang="ro-RO" dirty="0" err="1"/>
              <a:t>privind</a:t>
            </a:r>
            <a:r>
              <a:rPr lang="en-US" altLang="ro-RO" dirty="0"/>
              <a:t> </a:t>
            </a:r>
            <a:r>
              <a:rPr lang="en-US" altLang="ro-RO" dirty="0" err="1"/>
              <a:t>modul</a:t>
            </a:r>
            <a:r>
              <a:rPr lang="en-US" altLang="ro-RO" dirty="0"/>
              <a:t> </a:t>
            </a:r>
            <a:r>
              <a:rPr lang="ro-RO" altLang="ro-RO" dirty="0"/>
              <a:t>î</a:t>
            </a:r>
            <a:r>
              <a:rPr lang="en-US" altLang="ro-RO" dirty="0"/>
              <a:t>n care </a:t>
            </a:r>
            <a:r>
              <a:rPr lang="en-US" altLang="ro-RO" dirty="0" err="1"/>
              <a:t>ar</a:t>
            </a:r>
            <a:r>
              <a:rPr lang="en-US" altLang="ro-RO" dirty="0"/>
              <a:t> </a:t>
            </a:r>
            <a:r>
              <a:rPr lang="en-US" altLang="ro-RO" dirty="0" err="1"/>
              <a:t>trebui</a:t>
            </a:r>
            <a:r>
              <a:rPr lang="en-US" altLang="ro-RO" dirty="0"/>
              <a:t> s</a:t>
            </a:r>
            <a:r>
              <a:rPr lang="ro-RO" altLang="ro-RO" dirty="0"/>
              <a:t>ă</a:t>
            </a:r>
            <a:r>
              <a:rPr lang="en-US" altLang="ro-RO" dirty="0"/>
              <a:t> se </a:t>
            </a:r>
            <a:r>
              <a:rPr lang="en-US" altLang="ro-RO" dirty="0" err="1"/>
              <a:t>desf</a:t>
            </a:r>
            <a:r>
              <a:rPr lang="ro-RO" altLang="ro-RO" dirty="0" err="1"/>
              <a:t>ăș</a:t>
            </a:r>
            <a:r>
              <a:rPr lang="en-US" altLang="ro-RO" dirty="0" err="1"/>
              <a:t>oare</a:t>
            </a:r>
            <a:r>
              <a:rPr lang="en-US" altLang="ro-RO" dirty="0"/>
              <a:t> </a:t>
            </a:r>
            <a:r>
              <a:rPr lang="en-US" altLang="ro-RO" dirty="0" err="1"/>
              <a:t>activit</a:t>
            </a:r>
            <a:r>
              <a:rPr lang="ro-RO" altLang="ro-RO" dirty="0" err="1"/>
              <a:t>ăț</a:t>
            </a:r>
            <a:r>
              <a:rPr lang="en-US" altLang="ro-RO" dirty="0" err="1"/>
              <a:t>ile</a:t>
            </a:r>
            <a:r>
              <a:rPr lang="en-US" altLang="ro-RO" dirty="0"/>
              <a:t> </a:t>
            </a:r>
            <a:r>
              <a:rPr lang="en-US" altLang="ro-RO" dirty="0" err="1"/>
              <a:t>cerute</a:t>
            </a:r>
            <a:r>
              <a:rPr lang="en-US" altLang="ro-RO" dirty="0"/>
              <a:t> de </a:t>
            </a:r>
            <a:r>
              <a:rPr lang="en-US" altLang="ro-RO" dirty="0" err="1"/>
              <a:t>proiect</a:t>
            </a:r>
            <a:r>
              <a:rPr lang="en-US" altLang="ro-RO" dirty="0"/>
              <a:t>, </a:t>
            </a:r>
            <a:r>
              <a:rPr lang="en-US" altLang="ro-RO" dirty="0" err="1"/>
              <a:t>pentru</a:t>
            </a:r>
            <a:r>
              <a:rPr lang="en-US" altLang="ro-RO" dirty="0"/>
              <a:t> a se </a:t>
            </a:r>
            <a:r>
              <a:rPr lang="en-US" altLang="ro-RO" dirty="0" err="1"/>
              <a:t>asigura</a:t>
            </a:r>
            <a:r>
              <a:rPr lang="en-US" altLang="ro-RO" dirty="0"/>
              <a:t> </a:t>
            </a:r>
            <a:r>
              <a:rPr lang="en-US" altLang="ro-RO" dirty="0" err="1"/>
              <a:t>finalizarea</a:t>
            </a:r>
            <a:r>
              <a:rPr lang="en-US" altLang="ro-RO" dirty="0"/>
              <a:t> </a:t>
            </a:r>
            <a:r>
              <a:rPr lang="en-US" altLang="ro-RO" dirty="0" err="1"/>
              <a:t>sa</a:t>
            </a:r>
            <a:r>
              <a:rPr lang="en-US" altLang="ro-RO" dirty="0"/>
              <a:t>. </a:t>
            </a:r>
            <a:r>
              <a:rPr lang="en-US" altLang="ro-RO" dirty="0" err="1"/>
              <a:t>Prezenta</a:t>
            </a:r>
            <a:r>
              <a:rPr lang="ro-RO" altLang="ro-RO" dirty="0"/>
              <a:t>ț</a:t>
            </a:r>
            <a:r>
              <a:rPr lang="en-US" altLang="ro-RO" dirty="0" err="1"/>
              <a:t>i</a:t>
            </a:r>
            <a:r>
              <a:rPr lang="en-US" altLang="ro-RO" dirty="0"/>
              <a:t> </a:t>
            </a:r>
            <a:r>
              <a:rPr lang="en-US" altLang="ro-RO" dirty="0" err="1"/>
              <a:t>diagrama</a:t>
            </a:r>
            <a:r>
              <a:rPr lang="en-US" altLang="ro-RO" dirty="0"/>
              <a:t> Gantt </a:t>
            </a:r>
            <a:r>
              <a:rPr lang="en-US" altLang="ro-RO" dirty="0" err="1"/>
              <a:t>corespunz</a:t>
            </a:r>
            <a:r>
              <a:rPr lang="ro-RO" altLang="ro-RO" dirty="0"/>
              <a:t>ă</a:t>
            </a:r>
            <a:r>
              <a:rPr lang="en-US" altLang="ro-RO" dirty="0" err="1"/>
              <a:t>toare</a:t>
            </a:r>
            <a:r>
              <a:rPr lang="en-US" altLang="ro-RO" dirty="0"/>
              <a:t>.</a:t>
            </a:r>
            <a:endParaRPr lang="ro-RO" altLang="ro-RO" dirty="0"/>
          </a:p>
          <a:p>
            <a:pPr indent="231775"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en-US" altLang="ro-RO" dirty="0">
                <a:solidFill>
                  <a:srgbClr val="FF0000"/>
                </a:solidFill>
              </a:rPr>
              <a:t>M</a:t>
            </a:r>
            <a:r>
              <a:rPr lang="ro-RO" altLang="ro-RO" dirty="0">
                <a:solidFill>
                  <a:srgbClr val="FF0000"/>
                </a:solidFill>
              </a:rPr>
              <a:t>axim două pagini</a:t>
            </a:r>
          </a:p>
          <a:p>
            <a:pPr>
              <a:buFont typeface="Arial" charset="0"/>
              <a:buChar char="•"/>
            </a:pPr>
            <a:endParaRPr lang="ro-RO" altLang="ro-RO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rgbClr val="FF0000"/>
                </a:solidFill>
              </a:rPr>
              <a:t> ! Timpul maxim acordat expunerii este de </a:t>
            </a:r>
            <a:r>
              <a:rPr lang="en-US" altLang="ro-RO" dirty="0">
                <a:solidFill>
                  <a:srgbClr val="FF0000"/>
                </a:solidFill>
              </a:rPr>
              <a:t>5-6</a:t>
            </a:r>
            <a:r>
              <a:rPr lang="ro-RO" altLang="ro-RO" dirty="0">
                <a:solidFill>
                  <a:srgbClr val="FF0000"/>
                </a:solidFill>
              </a:rPr>
              <a:t> minute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 dirty="0">
                <a:latin typeface="Arial" charset="0"/>
                <a:cs typeface="Arial" charset="0"/>
              </a:rPr>
              <a:t>Discipline studiate utile în realizarea proiectului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177800" indent="-177800">
              <a:buFont typeface="Arial" pitchFamily="34" charset="0"/>
              <a:buChar char="•"/>
              <a:defRPr/>
            </a:pP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S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e trec disciplinele 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din 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care au fost utilizate cunoștințe/informații pentru realizarea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proiectului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endParaRPr lang="en-US" dirty="0">
              <a:latin typeface="Arial" pitchFamily="34" charset="0"/>
              <a:ea typeface="+mj-ea"/>
              <a:cs typeface="Arial" pitchFamily="34" charset="0"/>
            </a:endParaRPr>
          </a:p>
          <a:p>
            <a:pPr marL="177800" indent="-177800">
              <a:buFont typeface="Arial" pitchFamily="34" charset="0"/>
              <a:buChar char="•"/>
              <a:defRPr/>
            </a:pP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Ce discipline,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aflate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î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n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semestrele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din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amonte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,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ar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fi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trebuit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s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ă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fie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mai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bine 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î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nsu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ș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ite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pentru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u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ș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urarea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realiz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ă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rii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activit</a:t>
            </a:r>
            <a:r>
              <a:rPr lang="ro-RO" dirty="0" err="1">
                <a:latin typeface="Arial" pitchFamily="34" charset="0"/>
                <a:ea typeface="+mj-ea"/>
                <a:cs typeface="Arial" pitchFamily="34" charset="0"/>
              </a:rPr>
              <a:t>ăț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ilor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conexe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proiectului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?</a:t>
            </a:r>
          </a:p>
          <a:p>
            <a:pPr>
              <a:buFont typeface="Arial" pitchFamily="34" charset="0"/>
              <a:buChar char="•"/>
              <a:defRPr/>
            </a:pPr>
            <a:endParaRPr lang="en-US" dirty="0">
              <a:ea typeface="+mj-ea"/>
            </a:endParaRPr>
          </a:p>
          <a:p>
            <a:pPr>
              <a:buFont typeface="Arial" pitchFamily="34" charset="0"/>
              <a:buChar char="•"/>
              <a:defRPr/>
            </a:pPr>
            <a:endParaRPr lang="ro-RO" dirty="0">
              <a:solidFill>
                <a:srgbClr val="FF0000"/>
              </a:solidFill>
              <a:ea typeface="+mj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0</TotalTime>
  <Words>765</Words>
  <Application>Microsoft Office PowerPoint</Application>
  <PresentationFormat>Expunere pe ecran (4:3)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Circuite Electronice Fundamentale 2 – Proiect (CEF2-Pr) </vt:lpstr>
      <vt:lpstr>Date de proiectare</vt:lpstr>
      <vt:lpstr>Schema bloc</vt:lpstr>
      <vt:lpstr>Schema electrică </vt:lpstr>
      <vt:lpstr>Simulări</vt:lpstr>
      <vt:lpstr>Simulări</vt:lpstr>
      <vt:lpstr>Layout</vt:lpstr>
      <vt:lpstr>Layout</vt:lpstr>
      <vt:lpstr>Fotografii din etapa de echipare a modulului electronic</vt:lpstr>
      <vt:lpstr>Rezultate experimentale</vt:lpstr>
      <vt:lpstr>Rezultate experimentale</vt:lpstr>
      <vt:lpstr>Concluzii</vt:lpstr>
      <vt:lpstr>Concluzii</vt:lpstr>
      <vt:lpstr>Discipline studiate utile în realizarea proiectului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</dc:creator>
  <cp:lastModifiedBy>Nicusor Negru</cp:lastModifiedBy>
  <cp:revision>242</cp:revision>
  <dcterms:created xsi:type="dcterms:W3CDTF">2014-01-15T22:07:17Z</dcterms:created>
  <dcterms:modified xsi:type="dcterms:W3CDTF">2026-01-23T15:03:10Z</dcterms:modified>
</cp:coreProperties>
</file>